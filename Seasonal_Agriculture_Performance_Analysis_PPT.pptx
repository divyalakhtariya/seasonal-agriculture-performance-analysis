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handoutMasterIdLst>
    <p:handoutMasterId r:id="rId18"/>
  </p:handoutMasterIdLst>
  <p:sldIdLst>
    <p:sldId id="338" r:id="rId3"/>
    <p:sldId id="327" r:id="rId4"/>
    <p:sldId id="315" r:id="rId5"/>
    <p:sldId id="329" r:id="rId6"/>
    <p:sldId id="302" r:id="rId7"/>
    <p:sldId id="339" r:id="rId9"/>
    <p:sldId id="340" r:id="rId10"/>
    <p:sldId id="344" r:id="rId11"/>
    <p:sldId id="345" r:id="rId12"/>
    <p:sldId id="346" r:id="rId13"/>
    <p:sldId id="341" r:id="rId14"/>
    <p:sldId id="342" r:id="rId15"/>
    <p:sldId id="343" r:id="rId16"/>
    <p:sldId id="30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26" userDrawn="1">
          <p15:clr>
            <a:srgbClr val="A4A3A4"/>
          </p15:clr>
        </p15:guide>
        <p15:guide id="3" orient="horz" pos="3921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6E25E649-3F16-4E02-A733-19D2CDBF48F0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 showGuides="1">
      <p:cViewPr varScale="1">
        <p:scale>
          <a:sx n="82" d="100"/>
          <a:sy n="82" d="100"/>
        </p:scale>
        <p:origin x="624" y="72"/>
      </p:cViewPr>
      <p:guideLst>
        <p:guide orient="horz" pos="1968"/>
        <p:guide pos="426"/>
        <p:guide orient="horz" pos="3921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customXml" Target="../customXml/item3.xml"/><Relationship Id="rId23" Type="http://schemas.openxmlformats.org/officeDocument/2006/relationships/customXml" Target="../customXml/item2.xml"/><Relationship Id="rId22" Type="http://schemas.openxmlformats.org/officeDocument/2006/relationships/customXml" Target="../customXml/item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</p:txBody>
      </p:sp>
      <p:sp>
        <p:nvSpPr>
          <p:cNvPr id="15" name="Hexagon 14"/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/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/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/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/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/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/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/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/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/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/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/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/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22"/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1" name="Text Placeholder 22"/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2" name="Text Placeholder 22"/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7" name="Picture Placeholder 36"/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/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8" name="Date Placeholder 3"/>
          <p:cNvSpPr txBox="1"/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/>
          <p:cNvSpPr txBox="1"/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  <a:endParaRPr lang="en-US" sz="1100" b="1" dirty="0">
              <a:solidFill>
                <a:schemeClr val="accent2"/>
              </a:solidFill>
            </a:endParaRPr>
          </a:p>
        </p:txBody>
      </p:sp>
      <p:sp>
        <p:nvSpPr>
          <p:cNvPr id="30" name="Slide Number Placeholder 5"/>
          <p:cNvSpPr txBox="1"/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265430" y="3655695"/>
            <a:ext cx="5558790" cy="86169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1700" b="0" dirty="0">
                <a:solidFill>
                  <a:schemeClr val="tx1"/>
                </a:solidFill>
                <a:sym typeface="+mn-ea"/>
              </a:rPr>
              <a:t>Student Name:-Divya Lakhtariya  </a:t>
            </a:r>
            <a:endParaRPr lang="en-IN" sz="1700" b="0" dirty="0">
              <a:solidFill>
                <a:schemeClr val="tx1"/>
              </a:solidFill>
            </a:endParaRPr>
          </a:p>
          <a:p>
            <a:pPr algn="l"/>
            <a:r>
              <a:rPr lang="en-US" sz="1700" b="0" dirty="0">
                <a:solidFill>
                  <a:schemeClr val="tx1"/>
                </a:solidFill>
                <a:sym typeface="+mn-ea"/>
              </a:rPr>
              <a:t>College Name:-Government engineering college,rajkot</a:t>
            </a:r>
            <a:endParaRPr lang="en-US" sz="1700" b="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5430" y="2655570"/>
            <a:ext cx="9507220" cy="1000125"/>
          </a:xfrm>
        </p:spPr>
        <p:txBody>
          <a:bodyPr>
            <a:normAutofit/>
          </a:bodyPr>
          <a:lstStyle/>
          <a:p>
            <a:r>
              <a:rPr lang="en-GB" dirty="0">
                <a:sym typeface="+mn-ea"/>
              </a:rPr>
              <a:t>Project Title</a:t>
            </a:r>
            <a:r>
              <a:rPr lang="en-US" altLang="en-GB" dirty="0">
                <a:sym typeface="+mn-ea"/>
              </a:rPr>
              <a:t>:</a:t>
            </a:r>
            <a:r>
              <a:rPr lang="en-GB" dirty="0">
                <a:sym typeface="+mn-ea"/>
              </a:rPr>
              <a:t>-</a:t>
            </a:r>
            <a:r>
              <a:rPr lang="en-US" altLang="en-US" dirty="0">
                <a:sym typeface="+mn-ea"/>
              </a:rPr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/>
          <p:cNvSpPr txBox="1"/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800"/>
              </a:spcAft>
            </a:pPr>
            <a:endParaRPr sz="1400" b="0">
              <a:solidFill>
                <a:srgbClr val="555A5F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5920" y="4740910"/>
            <a:ext cx="44367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US" b="1" dirty="0">
                <a:sym typeface="+mn-ea"/>
              </a:rPr>
              <a:t>STU695baa12de5761767614994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lang="en-IN" sz="1600" b="0" dirty="0">
                <a:solidFill>
                  <a:srgbClr val="21292F"/>
                </a:solidFill>
              </a:rPr>
              <a:t>Agricultural performance is shaped by seasonal variations in environmental conditions, farming practices, resource availability and market conditions.</a:t>
            </a:r>
            <a:endParaRPr lang="en-IN" sz="1600" b="0" dirty="0">
              <a:solidFill>
                <a:srgbClr val="21292F"/>
              </a:solidFill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1292F"/>
                </a:solidFill>
              </a:rPr>
              <a:t>Raw agricultural data alone does not clearly explain how performance changes across seasons or what patterns exist within different seasonal conditions.</a:t>
            </a:r>
            <a:endParaRPr sz="1600" b="0">
              <a:solidFill>
                <a:srgbClr val="21292F"/>
              </a:solidFill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1292F"/>
                </a:solidFill>
              </a:rPr>
              <a:t>Problem: analyze the seasonal agriculture dataset to identify meaningful patterns, trends, relationships and differences in agricultural performance across the Kharif, Rabi and Zaid seasons.</a:t>
            </a:r>
            <a:endParaRPr sz="1600" b="0">
              <a:solidFill>
                <a:srgbClr val="21292F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0399" y="1750000"/>
            <a:ext cx="625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0">
                <a:solidFill>
                  <a:srgbClr val="21292F"/>
                </a:solidFill>
              </a:rPr>
              <a:t>This project analyzes 4,000 farm records spanning 3 seasons, 8 states and 8 crops to understand how seasonal factors affect agricultural performance.</a:t>
            </a:r>
            <a:endParaRPr sz="1500" b="0">
              <a:solidFill>
                <a:srgbClr val="21292F"/>
              </a:solidFill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0">
                <a:solidFill>
                  <a:srgbClr val="21292F"/>
                </a:solidFill>
              </a:rPr>
              <a:t>Using Python (Pandas, Matplotlib, Seaborn) in Jupyter Notebook, the analysis covers data cleaning, exploratory data analysis, seasonal comparison of yield, production and profit, resource-usage patterns, environmental correlations, and region/crop-level consistency checks.</a:t>
            </a:r>
            <a:endParaRPr sz="1500" b="0">
              <a:solidFill>
                <a:srgbClr val="21292F"/>
              </a:solidFill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0">
                <a:solidFill>
                  <a:srgbClr val="21292F"/>
                </a:solidFill>
              </a:rPr>
              <a:t>The project concludes with evidence-based insights and recommendations to support better seasonal agricultural planning.</a:t>
            </a:r>
            <a:endParaRPr sz="1500" b="0">
              <a:solidFill>
                <a:srgbClr val="21292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1292F"/>
                </a:solidFill>
              </a:rPr>
              <a:t>Farmers &amp; agricultural cooperatives — choosing the right crop and season</a:t>
            </a:r>
            <a:endParaRPr lang="en-IN" sz="3600" dirty="0"/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1292F"/>
                </a:solidFill>
              </a:rPr>
              <a:t>Government &amp; agricultural policy makers — evidence-based seasonal planning</a:t>
            </a:r>
            <a:endParaRPr sz="1700" b="0">
              <a:solidFill>
                <a:srgbClr val="21292F"/>
              </a:solidFill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1292F"/>
                </a:solidFill>
              </a:rPr>
              <a:t>Agri-business &amp; supply chain companies — forecasting production and procurement</a:t>
            </a:r>
            <a:endParaRPr sz="1700" b="0">
              <a:solidFill>
                <a:srgbClr val="21292F"/>
              </a:solidFill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1292F"/>
                </a:solidFill>
              </a:rPr>
              <a:t>Researchers &amp; academic institutions — studying seasonal performance trends</a:t>
            </a:r>
            <a:endParaRPr sz="1700" b="0">
              <a:solidFill>
                <a:srgbClr val="21292F"/>
              </a:solidFill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1292F"/>
                </a:solidFill>
              </a:rPr>
              <a:t>Banks &amp; crop insurance providers — assessing seasonal risk</a:t>
            </a:r>
            <a:endParaRPr sz="1700" b="0">
              <a:solidFill>
                <a:srgbClr val="21292F"/>
              </a:solidFill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1292F"/>
                </a:solidFill>
              </a:rPr>
              <a:t>Irrigation &amp; resource planning agencies — optimizing water and input allocation</a:t>
            </a:r>
            <a:endParaRPr sz="1700" b="0">
              <a:solidFill>
                <a:srgbClr val="21292F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950000" y="1432560"/>
            <a:ext cx="7470000" cy="5243448"/>
          </a:xfrm>
        </p:spPr>
        <p:txBody>
          <a:bodyPr wrap="square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21292F"/>
                </a:solidFill>
              </a:rPr>
              <a:t>Python 3 — core programming language for data analysis</a:t>
            </a:r>
            <a:endParaRPr lang="en-IN" dirty="0"/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21292F"/>
                </a:solidFill>
              </a:rPr>
              <a:t>Pandas &amp; NumPy — data cleaning, transformation and aggregation</a:t>
            </a:r>
            <a:endParaRPr sz="1500" b="0">
              <a:solidFill>
                <a:srgbClr val="21292F"/>
              </a:solidFill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21292F"/>
                </a:solidFill>
              </a:rPr>
              <a:t>Matplotlib &amp; Seaborn — visualization (bar charts, heatmaps, boxplots, regression plots)</a:t>
            </a:r>
            <a:endParaRPr sz="1500" b="0">
              <a:solidFill>
                <a:srgbClr val="21292F"/>
              </a:solidFill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21292F"/>
                </a:solidFill>
              </a:rPr>
              <a:t>Jupyter Notebook — end-to-end analysis and documentation</a:t>
            </a:r>
            <a:endParaRPr sz="1500" b="0">
              <a:solidFill>
                <a:srgbClr val="21292F"/>
              </a:solidFill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21292F"/>
                </a:solidFill>
              </a:rPr>
              <a:t>Dataset — seasonal_agriculture_performance_dataset.csv (4,000 records, 28 features)</a:t>
            </a:r>
            <a:endParaRPr sz="1500" b="0">
              <a:solidFill>
                <a:srgbClr val="21292F"/>
              </a:solidFill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21292F"/>
                </a:solidFill>
              </a:rPr>
              <a:t>Techniques — descriptive statistics, correlation analysis, group-wise comparison, IQR-based outlier detection, pivot tables</a:t>
            </a:r>
            <a:endParaRPr sz="1500" b="0">
              <a:solidFill>
                <a:srgbClr val="21292F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E2761"/>
                </a:solidFill>
              </a:rPr>
              <a:t>Kharif delivers the highest average yield (5.63 t/ha) of all three seasons.</a:t>
            </a:r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200" b="1">
                <a:solidFill>
                  <a:srgbClr val="1E2761"/>
                </a:solidFill>
              </a:rPr>
              <a:t>5.63 t/ha</a:t>
            </a:r>
            <a:endParaRPr lang="en-GB" sz="2000" dirty="0"/>
          </a:p>
          <a:p>
            <a:pPr algn="l"/>
            <a:r>
              <a:rPr sz="1100" b="0">
                <a:solidFill>
                  <a:srgbClr val="555A5F"/>
                </a:solidFill>
              </a:rPr>
              <a:t>Kharif avg. yield</a:t>
            </a:r>
            <a:endParaRPr sz="1100" b="0">
              <a:solidFill>
                <a:srgbClr val="555A5F"/>
              </a:solidFill>
            </a:endParaRPr>
          </a:p>
        </p:txBody>
      </p:sp>
      <p:pic>
        <p:nvPicPr>
          <p:cNvPr id="31" name="Picture 30" descr="yield_by_s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82" y="2107592"/>
            <a:ext cx="6769245" cy="41986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E2761"/>
                </a:solidFill>
              </a:rPr>
              <a:t>Kharif is the only season with strong profitability; Zaid runs at an average loss.</a:t>
            </a:r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200" b="1">
                <a:solidFill>
                  <a:srgbClr val="1E2761"/>
                </a:solidFill>
              </a:rPr>
              <a:t>−₹24.8K</a:t>
            </a:r>
            <a:endParaRPr lang="en-GB" sz="2000" dirty="0"/>
          </a:p>
          <a:p>
            <a:pPr algn="l"/>
            <a:r>
              <a:rPr sz="1100" b="0">
                <a:solidFill>
                  <a:srgbClr val="555A5F"/>
                </a:solidFill>
              </a:rPr>
              <a:t>Zaid avg. profit</a:t>
            </a:r>
            <a:endParaRPr sz="1100" b="0">
              <a:solidFill>
                <a:srgbClr val="555A5F"/>
              </a:solidFill>
            </a:endParaRPr>
          </a:p>
        </p:txBody>
      </p:sp>
      <p:pic>
        <p:nvPicPr>
          <p:cNvPr id="31" name="Picture 30" descr="profit_by_s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17" y="2273327"/>
            <a:ext cx="6769245" cy="41986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E2761"/>
                </a:solidFill>
              </a:rPr>
              <a:t>Rainfall, temperature, soil moisture and water use all shift markedly by season.</a:t>
            </a:r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200" b="1">
                <a:solidFill>
                  <a:srgbClr val="1E2761"/>
                </a:solidFill>
              </a:rPr>
              <a:t>849 mm</a:t>
            </a:r>
            <a:endParaRPr lang="en-GB" sz="2000" dirty="0"/>
          </a:p>
          <a:p>
            <a:pPr algn="l"/>
            <a:r>
              <a:rPr sz="1100" b="0">
                <a:solidFill>
                  <a:srgbClr val="555A5F"/>
                </a:solidFill>
              </a:rPr>
              <a:t>Kharif avg. rainfall</a:t>
            </a:r>
            <a:endParaRPr sz="1100" b="0">
              <a:solidFill>
                <a:srgbClr val="555A5F"/>
              </a:solidFill>
            </a:endParaRPr>
          </a:p>
        </p:txBody>
      </p:sp>
      <p:pic>
        <p:nvPicPr>
          <p:cNvPr id="31" name="Picture 30" descr="seasonal_cha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82" y="2314448"/>
            <a:ext cx="6769245" cy="36211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E2761"/>
                </a:solidFill>
              </a:rPr>
              <a:t>Environmental and resource variables show varying association with yield and profit.</a:t>
            </a:r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200" b="1">
                <a:solidFill>
                  <a:srgbClr val="1E2761"/>
                </a:solidFill>
              </a:rPr>
              <a:t>7</a:t>
            </a:r>
            <a:endParaRPr lang="en-GB" sz="2000" dirty="0"/>
          </a:p>
          <a:p>
            <a:pPr algn="l"/>
            <a:r>
              <a:rPr sz="1100" b="0">
                <a:solidFill>
                  <a:srgbClr val="555A5F"/>
                </a:solidFill>
              </a:rPr>
              <a:t>variables analyzed</a:t>
            </a:r>
            <a:endParaRPr sz="1100" b="0">
              <a:solidFill>
                <a:srgbClr val="555A5F"/>
              </a:solidFill>
            </a:endParaRPr>
          </a:p>
        </p:txBody>
      </p:sp>
      <p:pic>
        <p:nvPicPr>
          <p:cNvPr id="31" name="Picture 30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49" y="2414655"/>
            <a:ext cx="5740579" cy="425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E2761"/>
                </a:solidFill>
              </a:rPr>
              <a:t>Kharif is the best-performing season for 5 of 8 states and for every crop studied.</a:t>
            </a:r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200" b="1">
                <a:solidFill>
                  <a:srgbClr val="1E2761"/>
                </a:solidFill>
              </a:rPr>
              <a:t>5 of 8</a:t>
            </a:r>
            <a:endParaRPr lang="en-GB" sz="2000" dirty="0"/>
          </a:p>
          <a:p>
            <a:pPr algn="l"/>
            <a:r>
              <a:rPr sz="1100" b="0">
                <a:solidFill>
                  <a:srgbClr val="555A5F"/>
                </a:solidFill>
              </a:rPr>
              <a:t>states peak in Kharif</a:t>
            </a:r>
            <a:endParaRPr sz="1100" b="0">
              <a:solidFill>
                <a:srgbClr val="555A5F"/>
              </a:solidFill>
            </a:endParaRPr>
          </a:p>
        </p:txBody>
      </p:sp>
      <p:pic>
        <p:nvPicPr>
          <p:cNvPr id="31" name="Picture 30" descr="state_season_y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72" y="2221615"/>
            <a:ext cx="6555084" cy="425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  <a:endParaRPr lang="en-IN" sz="4000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320982" y="2100000"/>
            <a:ext cx="72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21292F"/>
                </a:solidFill>
              </a:rPr>
              <a:t>• Extend the analysis with statistical significance testing (ANOVA / t-tests) across seasons</a:t>
            </a:r>
            <a:endParaRPr sz="1600" b="0">
              <a:solidFill>
                <a:srgbClr val="21292F"/>
              </a:solidFill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21292F"/>
                </a:solidFill>
              </a:rPr>
              <a:t>• Build a predictive model to forecast yield and profit from seasonal &amp; environmental inputs</a:t>
            </a:r>
            <a:endParaRPr sz="1600" b="0">
              <a:solidFill>
                <a:srgbClr val="21292F"/>
              </a:solidFill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21292F"/>
                </a:solidFill>
              </a:rPr>
              <a:t>• Incorporate real-time weather and market-price data for dynamic seasonal planning</a:t>
            </a:r>
            <a:endParaRPr sz="1600" b="0">
              <a:solidFill>
                <a:srgbClr val="21292F"/>
              </a:solidFill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21292F"/>
                </a:solidFill>
              </a:rPr>
              <a:t>• Develop an interactive dashboard (Power BI / Streamlit) for farmers and policy makers</a:t>
            </a:r>
            <a:endParaRPr sz="1600" b="0">
              <a:solidFill>
                <a:srgbClr val="21292F"/>
              </a:solidFill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21292F"/>
                </a:solidFill>
              </a:rPr>
              <a:t>• Expand dataset coverage to more states, districts and crop varieties for finer-grained insights</a:t>
            </a:r>
            <a:endParaRPr sz="1600" b="0">
              <a:solidFill>
                <a:srgbClr val="21292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  <a:endParaRPr lang="en-IN" sz="4000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320982" y="2100000"/>
            <a:ext cx="7200000" cy="1473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0">
                <a:solidFill>
                  <a:srgbClr val="21292F"/>
                </a:solidFill>
              </a:rPr>
              <a:t>Notebook, dataset and this presentation are available in the project repository:</a:t>
            </a:r>
            <a:endParaRPr sz="1600" b="0">
              <a:solidFill>
                <a:srgbClr val="21292F"/>
              </a:solidFill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lang="en-US" altLang="en-US" sz="1600" b="1">
                <a:solidFill>
                  <a:srgbClr val="21292F"/>
                </a:solidFill>
              </a:rPr>
              <a:t>https://github.com/divyalakhtariya/Seasonal-Agriculture-Performance-Analysis.git</a:t>
            </a:r>
            <a:endParaRPr lang="en-US" altLang="en-US" sz="1600" b="1">
              <a:solidFill>
                <a:srgbClr val="21292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  <a:endParaRPr lang="en-IN" sz="3200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415" y="1442720"/>
            <a:ext cx="7124700" cy="502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  <a:endParaRPr lang="en-US" dirty="0"/>
          </a:p>
        </p:txBody>
      </p:sp>
      <p:sp>
        <p:nvSpPr>
          <p:cNvPr id="17" name="Text Placeholder 28"/>
          <p:cNvSpPr txBox="1"/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800"/>
              </a:spcAft>
            </a:pPr>
            <a:endParaRPr lang="en-IN" sz="2400" dirty="0"/>
          </a:p>
        </p:txBody>
      </p:sp>
      <p:sp>
        <p:nvSpPr>
          <p:cNvPr id="20" name="Text Placeholder 28"/>
          <p:cNvSpPr txBox="1"/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/>
          <p:cNvSpPr txBox="1"/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/>
          <p:cNvSpPr txBox="1"/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/>
          <p:cNvSpPr txBox="1"/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  <a:endParaRPr lang="en-GB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/>
</ds:datastoreItem>
</file>

<file path=customXml/itemProps2.xml><?xml version="1.0" encoding="utf-8"?>
<ds:datastoreItem xmlns:ds="http://schemas.openxmlformats.org/officeDocument/2006/customXml" ds:itemID="{4DEA9014-ED64-4558-B1E1-D03F0EE32BEB}">
  <ds:schemaRefs/>
</ds:datastoreItem>
</file>

<file path=customXml/itemProps3.xml><?xml version="1.0" encoding="utf-8"?>
<ds:datastoreItem xmlns:ds="http://schemas.openxmlformats.org/officeDocument/2006/customXml" ds:itemID="{B19EB750-A6DA-4BE8-B87B-FC499FE7336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3470</Words>
  <Application>WPS Presentation</Application>
  <PresentationFormat>Widescreen</PresentationFormat>
  <Paragraphs>93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Wingdings 3</vt:lpstr>
      <vt:lpstr>Symbol</vt:lpstr>
      <vt:lpstr>Arial</vt:lpstr>
      <vt:lpstr>Calibri</vt:lpstr>
      <vt:lpstr>Trebuchet MS</vt:lpstr>
      <vt:lpstr>Microsoft YaHei</vt:lpstr>
      <vt:lpstr>Arial Unicode MS</vt:lpstr>
      <vt:lpstr>Facet</vt:lpstr>
      <vt:lpstr>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WPS_1765168975</cp:lastModifiedBy>
  <cp:revision>100</cp:revision>
  <dcterms:created xsi:type="dcterms:W3CDTF">2021-07-11T13:13:00Z</dcterms:created>
  <dcterms:modified xsi:type="dcterms:W3CDTF">2026-09-04T08:21:28Z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KSOProductBuildVer">
    <vt:lpwstr>1033-12.1.0.28032</vt:lpwstr>
  </property>
  <property fmtid="{D5CDD505-2E9C-101B-9397-08002B2CF9AE}" pid="4" name="ICV">
    <vt:lpwstr>297AB3984EE24D5E90E6D50C4A6CAE19_12</vt:lpwstr>
  </property>
</Properties>
</file>